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9884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95322" y="640080"/>
            <a:ext cx="4443238" cy="4343400"/>
          </a:xfrm>
          <a:prstGeom prst="roundRect">
            <a:avLst>
              <a:gd name="adj" fmla="val 9259"/>
            </a:avLst>
          </a:prstGeom>
          <a:solidFill>
            <a:srgbClr val="ECF5E1"/>
          </a:solidFill>
          <a:ln/>
        </p:spPr>
      </p:sp>
      <p:pic>
        <p:nvPicPr>
          <p:cNvPr id="3" name="Image 0" descr="logoSe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400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33172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CONINS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Instructores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2296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inteligente de la programacion academica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Diseno y Manufactura del Cuero · SENA Itagui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882294" y="1600200"/>
            <a:ext cx="987386" cy="965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icon_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441" y="1885493"/>
            <a:ext cx="473945" cy="47394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436774" y="2788920"/>
            <a:ext cx="987386" cy="965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2" descr="icon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4921" y="3074213"/>
            <a:ext cx="473945" cy="47394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882294" y="3886200"/>
            <a:ext cx="987386" cy="965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3" descr="icon_activ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0441" y="4171493"/>
            <a:ext cx="473945" cy="4739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de hoy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programacion academica se lleva a mano en Excel. Eso genera errores, tiempo perdido y poca visibilidad para planear.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F5F7F9"/>
          </a:solidFill>
          <a:ln w="12700">
            <a:solidFill>
              <a:srgbClr val="E3E9EC"/>
            </a:solidFill>
            <a:prstDash val="solid"/>
          </a:ln>
          <a:effectLst>
            <a:outerShdw blurRad="114300" dist="38100" dir="5400000" algn="bl" rotWithShape="0">
              <a:srgbClr val="9AA7A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51760"/>
            <a:ext cx="960120" cy="960120"/>
          </a:xfrm>
          <a:prstGeom prst="ellipse">
            <a:avLst/>
          </a:prstGeom>
          <a:solidFill>
            <a:srgbClr val="E7EDF2"/>
          </a:solidFill>
          <a:ln/>
        </p:spPr>
      </p:sp>
      <p:pic>
        <p:nvPicPr>
          <p:cNvPr id="6" name="Image 0" descr="icon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" y="290139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7947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Informacion dispersa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43891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varios archivos y versiones; nadie tiene la foto completa del centro.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434840" y="228600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F5F7F9"/>
          </a:solidFill>
          <a:ln w="12700">
            <a:solidFill>
              <a:srgbClr val="E3E9EC"/>
            </a:solidFill>
            <a:prstDash val="solid"/>
          </a:ln>
          <a:effectLst>
            <a:outerShdw blurRad="114300" dist="38100" dir="5400000" algn="bl" rotWithShape="0">
              <a:srgbClr val="9AA7AF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651760"/>
            <a:ext cx="960120" cy="960120"/>
          </a:xfrm>
          <a:prstGeom prst="ellipse">
            <a:avLst/>
          </a:prstGeom>
          <a:solidFill>
            <a:srgbClr val="E7EDF2"/>
          </a:solidFill>
          <a:ln/>
        </p:spPr>
      </p:sp>
      <p:pic>
        <p:nvPicPr>
          <p:cNvPr id="11" name="Image 1" descr="icon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511" y="290139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7947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Cruces de horario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754880" y="43891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instructor termina asignado en dos lugares al mismo tiempo, sin que nadie lo note.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321040" y="228600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F5F7F9"/>
          </a:solidFill>
          <a:ln w="12700">
            <a:solidFill>
              <a:srgbClr val="E3E9EC"/>
            </a:solidFill>
            <a:prstDash val="solid"/>
          </a:ln>
          <a:effectLst>
            <a:outerShdw blurRad="114300" dist="38100" dir="5400000" algn="bl" rotWithShape="0">
              <a:srgbClr val="9AA7AF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41080" y="2651760"/>
            <a:ext cx="960120" cy="960120"/>
          </a:xfrm>
          <a:prstGeom prst="ellipse">
            <a:avLst/>
          </a:prstGeom>
          <a:solidFill>
            <a:srgbClr val="E7EDF2"/>
          </a:solidFill>
          <a:ln/>
        </p:spPr>
      </p:sp>
      <p:pic>
        <p:nvPicPr>
          <p:cNvPr id="16" name="Image 2" descr="icon_eyeo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711" y="290139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37947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641080" y="43891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mal aprovechadas y decisiones sin la informacion a la vista.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CONINS  ·  CDMC SENA · Itagui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solucion: CONINS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plataforma que centraliza, ordena y valida toda la programacion del centro.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F5F7F9"/>
          </a:solidFill>
          <a:ln w="12700">
            <a:solidFill>
              <a:srgbClr val="E3E9EC"/>
            </a:solidFill>
            <a:prstDash val="solid"/>
          </a:ln>
          <a:effectLst>
            <a:outerShdw blurRad="114300" dist="38100" dir="5400000" algn="bl" rotWithShape="0">
              <a:srgbClr val="9AA7AF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468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· Excel manual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Archivos sueltos y versiones distintas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72160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Cruces de horario que pasan inadvertidos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37997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Aulas sin control de ocupacion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503834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Sin proyeccion ni alertas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ECF5E1"/>
          </a:solidFill>
          <a:ln w="12700">
            <a:solidFill>
              <a:srgbClr val="D4E8C0"/>
            </a:solidFill>
            <a:prstDash val="solid"/>
          </a:ln>
          <a:effectLst>
            <a:outerShdw blurRad="114300" dist="38100" dir="5400000" algn="bl" rotWithShape="0">
              <a:srgbClr val="9AA7AF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2468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· CONINS</a:t>
            </a:r>
            <a:endParaRPr lang="en-US" sz="1800" dirty="0"/>
          </a:p>
        </p:txBody>
      </p:sp>
      <p:pic>
        <p:nvPicPr>
          <p:cNvPr id="12" name="Image 0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200400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95160" y="30632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programacion en un solo lugar</a:t>
            </a:r>
            <a:endParaRPr lang="en-US" sz="1500" dirty="0"/>
          </a:p>
        </p:txBody>
      </p:sp>
      <p:pic>
        <p:nvPicPr>
          <p:cNvPr id="14" name="Image 1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85876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95160" y="37216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evita los cruces automaticamente</a:t>
            </a:r>
            <a:endParaRPr lang="en-US" sz="1500" dirty="0"/>
          </a:p>
        </p:txBody>
      </p:sp>
      <p:pic>
        <p:nvPicPr>
          <p:cNvPr id="16" name="Image 2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451713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437997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Ocupacion de ambientes a la vista</a:t>
            </a:r>
            <a:endParaRPr lang="en-US" sz="1500" dirty="0"/>
          </a:p>
        </p:txBody>
      </p:sp>
      <p:pic>
        <p:nvPicPr>
          <p:cNvPr id="18" name="Image 3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5175504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95160" y="503834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Proyeccion semanal y alertas oportunas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CONINS  ·  CDMC SENA · Itagui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clave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CONINS hace por el centro, todos los dias.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5F7F9"/>
          </a:solidFill>
          <a:ln w="12700">
            <a:solidFill>
              <a:srgbClr val="E3E9EC"/>
            </a:solidFill>
            <a:prstDash val="solid"/>
          </a:ln>
          <a:effectLst>
            <a:outerShdw blurRad="114300" dist="38100" dir="5400000" algn="bl" rotWithShape="0">
              <a:srgbClr val="9AA7A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60320"/>
            <a:ext cx="1051560" cy="1051560"/>
          </a:xfrm>
          <a:prstGeom prst="ellipse">
            <a:avLst/>
          </a:prstGeom>
          <a:solidFill>
            <a:srgbClr val="ECF5E1"/>
          </a:solidFill>
          <a:ln/>
        </p:spPr>
      </p:sp>
      <p:pic>
        <p:nvPicPr>
          <p:cNvPr id="6" name="Image 0" descr="icon_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6" y="2833726"/>
            <a:ext cx="504749" cy="5047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4688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Programacion clara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148840" y="29718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con su instructor, ambiente, jornada, competencia y resultado de aprendizaje, en un solo lugar.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21488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5F7F9"/>
          </a:solidFill>
          <a:ln w="12700">
            <a:solidFill>
              <a:srgbClr val="E3E9EC"/>
            </a:solidFill>
            <a:prstDash val="solid"/>
          </a:ln>
          <a:effectLst>
            <a:outerShdw blurRad="114300" dist="38100" dir="5400000" algn="bl" rotWithShape="0">
              <a:srgbClr val="9AA7AF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560320"/>
            <a:ext cx="1051560" cy="1051560"/>
          </a:xfrm>
          <a:prstGeom prst="ellipse">
            <a:avLst/>
          </a:prstGeom>
          <a:solidFill>
            <a:srgbClr val="ECF5E1"/>
          </a:solidFill>
          <a:ln/>
        </p:spPr>
      </p:sp>
      <p:pic>
        <p:nvPicPr>
          <p:cNvPr id="11" name="Image 1" descr="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2806" y="2833726"/>
            <a:ext cx="504749" cy="5047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09560" y="24688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cruces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909560" y="29718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impide que un instructor quede asignado en dos lugares al mismo tiempo.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42062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5F7F9"/>
          </a:solidFill>
          <a:ln w="12700">
            <a:solidFill>
              <a:srgbClr val="E3E9EC"/>
            </a:solidFill>
            <a:prstDash val="solid"/>
          </a:ln>
          <a:effectLst>
            <a:outerShdw blurRad="114300" dist="38100" dir="5400000" algn="bl" rotWithShape="0">
              <a:srgbClr val="9AA7AF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617720"/>
            <a:ext cx="1051560" cy="1051560"/>
          </a:xfrm>
          <a:prstGeom prst="ellipse">
            <a:avLst/>
          </a:prstGeom>
          <a:solidFill>
            <a:srgbClr val="ECF5E1"/>
          </a:solidFill>
          <a:ln/>
        </p:spPr>
      </p:sp>
      <p:pic>
        <p:nvPicPr>
          <p:cNvPr id="16" name="Image 2" descr="icon_ho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6" y="4891126"/>
            <a:ext cx="504749" cy="5047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48840" y="45262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Aprovechamiento de ambientes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2148840" y="50292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que aulas estan libres u ocupadas por jornada, para usar mejor los espacios.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09360" y="42062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5F7F9"/>
          </a:solidFill>
          <a:ln w="12700">
            <a:solidFill>
              <a:srgbClr val="E3E9EC"/>
            </a:solidFill>
            <a:prstDash val="solid"/>
          </a:ln>
          <a:effectLst>
            <a:outerShdw blurRad="114300" dist="38100" dir="5400000" algn="bl" rotWithShape="0">
              <a:srgbClr val="9AA7AF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617720"/>
            <a:ext cx="1051560" cy="1051560"/>
          </a:xfrm>
          <a:prstGeom prst="ellipse">
            <a:avLst/>
          </a:prstGeom>
          <a:solidFill>
            <a:srgbClr val="ECF5E1"/>
          </a:solidFill>
          <a:ln/>
        </p:spPr>
      </p:sp>
      <p:pic>
        <p:nvPicPr>
          <p:cNvPr id="21" name="Image 3" descr="icon_activ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2806" y="4891126"/>
            <a:ext cx="504749" cy="5047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09560" y="45262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carga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909560" y="50292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 cuando un instructor esta sobrecargado o con poca carga horaria.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CONINS  ·  CDMC SENA · Itagui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y anticipacion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Planear con tiempo, no reaccionar tarde.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349240" cy="3840480"/>
          </a:xfrm>
          <a:prstGeom prst="roundRect">
            <a:avLst>
              <a:gd name="adj" fmla="val 2857"/>
            </a:avLst>
          </a:prstGeom>
          <a:solidFill>
            <a:srgbClr val="F5F7F9"/>
          </a:solidFill>
          <a:ln w="12700">
            <a:solidFill>
              <a:srgbClr val="E3E9EC"/>
            </a:solidFill>
            <a:prstDash val="solid"/>
          </a:ln>
          <a:effectLst>
            <a:outerShdw blurRad="114300" dist="38100" dir="5400000" algn="bl" rotWithShape="0">
              <a:srgbClr val="9AA7A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56032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467" y="2869387"/>
            <a:ext cx="570586" cy="5705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88620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Proyeccion semana a semana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470916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la programacion de todo el mes para anticipar eventos y planear con tiempo.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09360" y="2194560"/>
            <a:ext cx="5349240" cy="3840480"/>
          </a:xfrm>
          <a:prstGeom prst="roundRect">
            <a:avLst>
              <a:gd name="adj" fmla="val 2857"/>
            </a:avLst>
          </a:prstGeom>
          <a:solidFill>
            <a:srgbClr val="ECF5E1"/>
          </a:solidFill>
          <a:ln w="12700">
            <a:solidFill>
              <a:srgbClr val="D4E8C0"/>
            </a:solidFill>
            <a:prstDash val="solid"/>
          </a:ln>
          <a:effectLst>
            <a:outerShdw blurRad="114300" dist="38100" dir="5400000" algn="bl" rotWithShape="0">
              <a:srgbClr val="9AA7AF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56032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_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4187" y="2869387"/>
            <a:ext cx="570586" cy="5705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75120" y="388620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y notificaciones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675120" y="470916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avisa de sobrecargas y ocupaciones, y notifica a cada instructor sus asignaciones.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CONINS  ·  CDMC SENA · Itagui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control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Informacion lista para gestionar y hacer seguimiento.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F5F7F9"/>
          </a:solidFill>
          <a:ln w="12700">
            <a:solidFill>
              <a:srgbClr val="E3E9EC"/>
            </a:solidFill>
            <a:prstDash val="solid"/>
          </a:ln>
          <a:effectLst>
            <a:outerShdw blurRad="114300" dist="38100" dir="5400000" algn="bl" rotWithShape="0">
              <a:srgbClr val="9AA7A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51760"/>
            <a:ext cx="1005840" cy="1005840"/>
          </a:xfrm>
          <a:prstGeom prst="ellipse">
            <a:avLst/>
          </a:prstGeom>
          <a:solidFill>
            <a:srgbClr val="ECF5E1"/>
          </a:solidFill>
          <a:ln/>
        </p:spPr>
      </p:sp>
      <p:pic>
        <p:nvPicPr>
          <p:cNvPr id="6" name="Image 0" descr="icon_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198" y="291327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840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en PDF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44348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Mallas de horario, ocupacion de ambientes y asignaciones, listas para exportar.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34840" y="228600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F5F7F9"/>
          </a:solidFill>
          <a:ln w="12700">
            <a:solidFill>
              <a:srgbClr val="E3E9EC"/>
            </a:solidFill>
            <a:prstDash val="solid"/>
          </a:ln>
          <a:effectLst>
            <a:outerShdw blurRad="114300" dist="38100" dir="5400000" algn="bl" rotWithShape="0">
              <a:srgbClr val="9AA7AF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651760"/>
            <a:ext cx="1005840" cy="1005840"/>
          </a:xfrm>
          <a:prstGeom prst="ellipse">
            <a:avLst/>
          </a:prstGeom>
          <a:solidFill>
            <a:srgbClr val="ECF5E1"/>
          </a:solidFill>
          <a:ln/>
        </p:spPr>
      </p:sp>
      <p:pic>
        <p:nvPicPr>
          <p:cNvPr id="11" name="Image 1" descr="icon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398" y="291327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840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Ocupacion a la vista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754880" y="44348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Cuanto se usan las aulas por jornada, para decidir con datos.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21040" y="228600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F5F7F9"/>
          </a:solidFill>
          <a:ln w="12700">
            <a:solidFill>
              <a:srgbClr val="E3E9EC"/>
            </a:solidFill>
            <a:prstDash val="solid"/>
          </a:ln>
          <a:effectLst>
            <a:outerShdw blurRad="114300" dist="38100" dir="5400000" algn="bl" rotWithShape="0">
              <a:srgbClr val="9AA7AF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41080" y="2651760"/>
            <a:ext cx="1005840" cy="1005840"/>
          </a:xfrm>
          <a:prstGeom prst="ellipse">
            <a:avLst/>
          </a:prstGeom>
          <a:solidFill>
            <a:srgbClr val="ECF5E1"/>
          </a:solidFill>
          <a:ln/>
        </p:spPr>
      </p:sp>
      <p:pic>
        <p:nvPicPr>
          <p:cNvPr id="16" name="Image 2" descr="icon_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2598" y="2913278"/>
            <a:ext cx="482803" cy="482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3840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641080" y="44348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queda registrado: quien, que y cuando.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CONINS  ·  CDMC SENA · Itagui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para el centro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orden, mejores decisiones y una base lista para crecer.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blurRad="114300" dist="38100" dir="5400000" algn="bl" rotWithShape="0">
              <a:srgbClr val="9AA7A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60320"/>
            <a:ext cx="1051560" cy="1051560"/>
          </a:xfrm>
          <a:prstGeom prst="ellipse">
            <a:avLst/>
          </a:prstGeom>
          <a:solidFill>
            <a:srgbClr val="ECF5E1"/>
          </a:solidFill>
          <a:ln/>
        </p:spPr>
      </p:sp>
      <p:pic>
        <p:nvPicPr>
          <p:cNvPr id="6" name="Image 0" descr="icon_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6" y="2833726"/>
            <a:ext cx="504749" cy="5047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5146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de tiempo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148840" y="301752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trabajo manual en la programacion.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21488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blurRad="114300" dist="38100" dir="5400000" algn="bl" rotWithShape="0">
              <a:srgbClr val="9AA7AF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560320"/>
            <a:ext cx="1051560" cy="1051560"/>
          </a:xfrm>
          <a:prstGeom prst="ellipse">
            <a:avLst/>
          </a:prstGeom>
          <a:solidFill>
            <a:srgbClr val="ECF5E1"/>
          </a:solidFill>
          <a:ln/>
        </p:spPr>
      </p:sp>
      <p:pic>
        <p:nvPicPr>
          <p:cNvPr id="11" name="Image 1" descr="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2806" y="2833726"/>
            <a:ext cx="504749" cy="5047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09560" y="25146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errores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909560" y="301752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automaticas que evitan cruces.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2062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blurRad="114300" dist="38100" dir="5400000" algn="bl" rotWithShape="0">
              <a:srgbClr val="9AA7AF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617720"/>
            <a:ext cx="1051560" cy="1051560"/>
          </a:xfrm>
          <a:prstGeom prst="ellipse">
            <a:avLst/>
          </a:prstGeom>
          <a:solidFill>
            <a:srgbClr val="ECF5E1"/>
          </a:solidFill>
          <a:ln/>
        </p:spPr>
      </p:sp>
      <p:pic>
        <p:nvPicPr>
          <p:cNvPr id="16" name="Image 2" descr="icon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6" y="4891126"/>
            <a:ext cx="504749" cy="5047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48840" y="4572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informadas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2148840" y="507492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claros de carga y ocupacion.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309360" y="420624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  <a:effectLst>
            <a:outerShdw blurRad="114300" dist="38100" dir="5400000" algn="bl" rotWithShape="0">
              <a:srgbClr val="9AA7AF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617720"/>
            <a:ext cx="1051560" cy="1051560"/>
          </a:xfrm>
          <a:prstGeom prst="ellipse">
            <a:avLst/>
          </a:prstGeom>
          <a:solidFill>
            <a:srgbClr val="ECF5E1"/>
          </a:solidFill>
          <a:ln/>
        </p:spPr>
      </p:sp>
      <p:pic>
        <p:nvPicPr>
          <p:cNvPr id="21" name="Image 3" descr="icon_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2806" y="4891126"/>
            <a:ext cx="504749" cy="5047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09560" y="4572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para crecer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909560" y="507492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Preparada para escalar a todo el centro.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CONINS  ·  CDMC SENA · Itagui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0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e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12344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46888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CONINS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914400" y="35661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F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Orden, visibilidad y control para la programacion academica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42976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Diseno y Manufactura del Cuero · SENA Itagui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51206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490</Words>
  <Application>Microsoft Office PowerPoint</Application>
  <PresentationFormat>Panorámica</PresentationFormat>
  <Paragraphs>82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CONINS - Presentacion comercial</dc:title>
  <dc:subject>PptxGenJS Presentation</dc:subject>
  <dc:creator>CONINS - CDMC SENA</dc:creator>
  <cp:lastModifiedBy>Jair Gonzalez</cp:lastModifiedBy>
  <cp:revision>2</cp:revision>
  <dcterms:created xsi:type="dcterms:W3CDTF">2026-08-25T16:14:54Z</dcterms:created>
  <dcterms:modified xsi:type="dcterms:W3CDTF">2026-08-25T16:21:16Z</dcterms:modified>
</cp:coreProperties>
</file>